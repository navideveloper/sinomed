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0" r:id="rId3"/>
    <p:sldId id="258" r:id="rId4"/>
    <p:sldId id="264" r:id="rId5"/>
    <p:sldId id="263" r:id="rId6"/>
    <p:sldId id="266" r:id="rId7"/>
    <p:sldId id="268" r:id="rId8"/>
    <p:sldId id="269" r:id="rId9"/>
    <p:sldId id="270" r:id="rId10"/>
    <p:sldId id="272" r:id="rId11"/>
    <p:sldId id="273" r:id="rId12"/>
    <p:sldId id="274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69" y="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9923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EB525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EB5257"/>
          </a:solidFill>
          <a:ln/>
        </p:spPr>
      </p:sp>
      <p:sp>
        <p:nvSpPr>
          <p:cNvPr id="4" name="Shape 2"/>
          <p:cNvSpPr/>
          <p:nvPr/>
        </p:nvSpPr>
        <p:spPr>
          <a:xfrm>
            <a:off x="8001000" y="1783080"/>
            <a:ext cx="3291840" cy="3291840"/>
          </a:xfrm>
          <a:prstGeom prst="ellipse">
            <a:avLst/>
          </a:prstGeom>
          <a:solidFill>
            <a:srgbClr val="0A0F1C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0" y="2240280"/>
            <a:ext cx="2377440" cy="2377440"/>
          </a:xfrm>
          <a:prstGeom prst="ellipse">
            <a:avLst/>
          </a:prstGeom>
          <a:solidFill>
            <a:srgbClr val="0A0F1C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0" y="2651760"/>
            <a:ext cx="1554480" cy="1554480"/>
          </a:xfrm>
          <a:prstGeom prst="ellipse">
            <a:avLst/>
          </a:prstGeom>
          <a:solidFill>
            <a:srgbClr val="0A0F1C"/>
          </a:solidFill>
          <a:ln w="19050">
            <a:solidFill>
              <a:srgbClr val="EB52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5669280"/>
            <a:ext cx="4754880" cy="0"/>
          </a:xfrm>
          <a:prstGeom prst="line">
            <a:avLst/>
          </a:prstGeom>
          <a:noFill/>
          <a:ln w="12700">
            <a:solidFill>
              <a:srgbClr val="EB5257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B5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UMUMMILLIY AI XAKATON   ·   ANDIJON 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17830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SinoMed</a:t>
            </a:r>
            <a:endParaRPr lang="en-US" sz="6600" dirty="0"/>
          </a:p>
        </p:txBody>
      </p:sp>
      <p:sp>
        <p:nvSpPr>
          <p:cNvPr id="13" name="Text 11"/>
          <p:cNvSpPr/>
          <p:nvPr/>
        </p:nvSpPr>
        <p:spPr>
          <a:xfrm>
            <a:off x="640080" y="32461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Kasalliklarni</a:t>
            </a:r>
            <a:r>
              <a:rPr lang="en-US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aniqlovchi</a:t>
            </a:r>
            <a:r>
              <a:rPr lang="en-US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Narrow AI </a:t>
            </a:r>
            <a:r>
              <a:rPr lang="en-US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modellar</a:t>
            </a:r>
            <a:r>
              <a:rPr lang="en-US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ekotizimi</a:t>
            </a:r>
            <a:r>
              <a:rPr lang="en-US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shifokorlarga</a:t>
            </a:r>
            <a:r>
              <a:rPr lang="en-US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assistent</a:t>
            </a:r>
            <a:r>
              <a:rPr lang="en-US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talabalarga</a:t>
            </a:r>
            <a:r>
              <a:rPr lang="en-US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o'quv-laboratoriya</a:t>
            </a:r>
            <a:r>
              <a:rPr lang="en-US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.</a:t>
            </a:r>
            <a:endParaRPr lang="en-US" sz="18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" y="4370832"/>
            <a:ext cx="155448" cy="155448"/>
          </a:xfrm>
          <a:prstGeom prst="ellipse">
            <a:avLst/>
          </a:prstGeom>
          <a:solidFill>
            <a:srgbClr val="EB5257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24281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Fedora jamoasi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6080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#MilliyAIXakaton    #AndijonAI</a:t>
            </a:r>
            <a:endParaRPr lang="en-US" sz="110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41404F87-F5BC-3943-3C99-F395D3964E3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293" b="28190"/>
          <a:stretch/>
        </p:blipFill>
        <p:spPr>
          <a:xfrm>
            <a:off x="8513689" y="2514600"/>
            <a:ext cx="226646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EB525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EB5257"/>
          </a:solidFill>
          <a:ln/>
        </p:spPr>
      </p:sp>
      <p:sp>
        <p:nvSpPr>
          <p:cNvPr id="4" name="Text 2"/>
          <p:cNvSpPr/>
          <p:nvPr/>
        </p:nvSpPr>
        <p:spPr>
          <a:xfrm>
            <a:off x="9811512" y="16459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640080" y="512064"/>
            <a:ext cx="310896" cy="45720"/>
          </a:xfrm>
          <a:prstGeom prst="rect">
            <a:avLst/>
          </a:prstGeom>
          <a:solidFill>
            <a:srgbClr val="EB5257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B5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YECHIM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1792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Uch qatlamli platforma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3422904" cy="3291840"/>
          </a:xfrm>
          <a:prstGeom prst="roundRect">
            <a:avLst>
              <a:gd name="adj" fmla="val 1944"/>
            </a:avLst>
          </a:prstGeom>
          <a:solidFill>
            <a:srgbClr val="141C2E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874520"/>
            <a:ext cx="475488" cy="475488"/>
          </a:xfrm>
          <a:prstGeom prst="ellipse">
            <a:avLst/>
          </a:prstGeom>
          <a:solidFill>
            <a:srgbClr val="EB5257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874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2560320"/>
            <a:ext cx="2691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</a:t>
            </a:r>
            <a:r>
              <a:rPr lang="en-US" sz="18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modellar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24128" y="3063240"/>
            <a:ext cx="640080" cy="36576"/>
          </a:xfrm>
          <a:prstGeom prst="rect">
            <a:avLst/>
          </a:prstGeom>
          <a:solidFill>
            <a:srgbClr val="EB5257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246120"/>
            <a:ext cx="27371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Rentgenni tahlil qilib, belgini topadi va ehtimollik foizini chiqaradi (YOLO / ResNet).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383024" y="1554480"/>
            <a:ext cx="3422904" cy="3291840"/>
          </a:xfrm>
          <a:prstGeom prst="roundRect">
            <a:avLst>
              <a:gd name="adj" fmla="val 1944"/>
            </a:avLst>
          </a:prstGeom>
          <a:solidFill>
            <a:srgbClr val="141C2E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48784" y="1874520"/>
            <a:ext cx="475488" cy="47548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6" name="Text 14"/>
          <p:cNvSpPr/>
          <p:nvPr/>
        </p:nvSpPr>
        <p:spPr>
          <a:xfrm>
            <a:off x="4748784" y="1874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48784" y="2560320"/>
            <a:ext cx="2691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Ta'lim qatlami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767072" y="3063240"/>
            <a:ext cx="640080" cy="3657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9" name="Text 17"/>
          <p:cNvSpPr/>
          <p:nvPr/>
        </p:nvSpPr>
        <p:spPr>
          <a:xfrm>
            <a:off x="4748784" y="3246120"/>
            <a:ext cx="27371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Talaba avval o'zi baholaydi, keyin AI bilan solishtiradi. Grad-CAM model qarashini ko'rsatadi.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125968" y="1554480"/>
            <a:ext cx="3422904" cy="3291840"/>
          </a:xfrm>
          <a:prstGeom prst="roundRect">
            <a:avLst>
              <a:gd name="adj" fmla="val 1944"/>
            </a:avLst>
          </a:prstGeom>
          <a:solidFill>
            <a:srgbClr val="0F1626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91728" y="1874520"/>
            <a:ext cx="475488" cy="475488"/>
          </a:xfrm>
          <a:prstGeom prst="ellipse">
            <a:avLst/>
          </a:prstGeom>
          <a:solidFill>
            <a:srgbClr val="EB5257"/>
          </a:solidFill>
          <a:ln/>
        </p:spPr>
      </p:sp>
      <p:sp>
        <p:nvSpPr>
          <p:cNvPr id="22" name="Text 20"/>
          <p:cNvSpPr/>
          <p:nvPr/>
        </p:nvSpPr>
        <p:spPr>
          <a:xfrm>
            <a:off x="8491728" y="1874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91728" y="2560320"/>
            <a:ext cx="2691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Xavfsizlik qatlami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510016" y="3063240"/>
            <a:ext cx="640080" cy="36576"/>
          </a:xfrm>
          <a:prstGeom prst="rect">
            <a:avLst/>
          </a:prstGeom>
          <a:solidFill>
            <a:srgbClr val="EB5257"/>
          </a:solidFill>
          <a:ln/>
        </p:spPr>
      </p:sp>
      <p:sp>
        <p:nvSpPr>
          <p:cNvPr id="25" name="Text 23"/>
          <p:cNvSpPr/>
          <p:nvPr/>
        </p:nvSpPr>
        <p:spPr>
          <a:xfrm>
            <a:off x="8491728" y="3246120"/>
            <a:ext cx="27371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Inson tasdig'i majburiy, audit log, </a:t>
            </a:r>
            <a:r>
              <a:rPr lang="en-US" sz="1350" dirty="0" err="1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ishonch</a:t>
            </a:r>
            <a:r>
              <a:rPr lang="en-US" sz="13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chegarasi</a:t>
            </a:r>
            <a:r>
              <a:rPr lang="en-US" sz="13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</a:t>
            </a:r>
            <a:r>
              <a:rPr lang="en-US" sz="13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xafsizlik</a:t>
            </a:r>
            <a:r>
              <a:rPr lang="en-US" sz="13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uchun</a:t>
            </a:r>
            <a:r>
              <a:rPr lang="en-US" sz="13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cool time </a:t>
            </a:r>
            <a:r>
              <a:rPr lang="en-US" sz="1350" dirty="0" err="1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</a:t>
            </a:r>
            <a:r>
              <a:rPr lang="en-US" sz="13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2FA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0080" y="50749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diagnoz qo'ymaydi — yakuniy qaror doimo shifokorda qoladi.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SinoMed  ·  Fedora  · 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9167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6643723F-E7EF-F3EA-5448-D0583277F7A2}"/>
              </a:ext>
            </a:extLst>
          </p:cNvPr>
          <p:cNvSpPr/>
          <p:nvPr/>
        </p:nvSpPr>
        <p:spPr>
          <a:xfrm>
            <a:off x="9963912" y="31699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0" b="1" dirty="0">
                <a:solidFill>
                  <a:srgbClr val="18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EB525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EB5257"/>
          </a:solidFill>
          <a:ln/>
        </p:spPr>
      </p:sp>
      <p:sp>
        <p:nvSpPr>
          <p:cNvPr id="4" name="Text 2"/>
          <p:cNvSpPr/>
          <p:nvPr/>
        </p:nvSpPr>
        <p:spPr>
          <a:xfrm>
            <a:off x="9811512" y="16459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0" b="1" dirty="0">
                <a:solidFill>
                  <a:srgbClr val="18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640080" y="512064"/>
            <a:ext cx="310896" cy="45720"/>
          </a:xfrm>
          <a:prstGeom prst="rect">
            <a:avLst/>
          </a:prstGeom>
          <a:solidFill>
            <a:srgbClr val="EB5257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B5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MUAMMO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1792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Biz hal qilayotgan muammo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10908792" cy="1371600"/>
          </a:xfrm>
          <a:prstGeom prst="roundRect">
            <a:avLst>
              <a:gd name="adj" fmla="val 4667"/>
            </a:avLst>
          </a:prstGeom>
          <a:solidFill>
            <a:srgbClr val="141C2E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600200"/>
            <a:ext cx="91440" cy="1371600"/>
          </a:xfrm>
          <a:prstGeom prst="rect">
            <a:avLst/>
          </a:prstGeom>
          <a:solidFill>
            <a:srgbClr val="EB5257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2048256"/>
            <a:ext cx="475488" cy="475488"/>
          </a:xfrm>
          <a:prstGeom prst="ellipse">
            <a:avLst/>
          </a:prstGeom>
          <a:solidFill>
            <a:srgbClr val="EB5257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048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28800" y="1828800"/>
            <a:ext cx="9628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Tibbiy ta'limda AI moduli yo'q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828800" y="2276856"/>
            <a:ext cx="9628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Talabalar rentgen va KT tasvirlarini real keyslarda, AI yordamida mashq qila olmaydi.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3200400"/>
            <a:ext cx="10908792" cy="1371600"/>
          </a:xfrm>
          <a:prstGeom prst="roundRect">
            <a:avLst>
              <a:gd name="adj" fmla="val 4667"/>
            </a:avLst>
          </a:prstGeom>
          <a:solidFill>
            <a:srgbClr val="141C2E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200400"/>
            <a:ext cx="91440" cy="1371600"/>
          </a:xfrm>
          <a:prstGeom prst="rect">
            <a:avLst/>
          </a:prstGeom>
          <a:solidFill>
            <a:srgbClr val="EB5257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7280" y="3648456"/>
            <a:ext cx="475488" cy="475488"/>
          </a:xfrm>
          <a:prstGeom prst="ellipse">
            <a:avLst/>
          </a:prstGeom>
          <a:solidFill>
            <a:srgbClr val="EB5257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6484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828800" y="3429000"/>
            <a:ext cx="9628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Etika va xavfsizlik standarti yo'q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828800" y="3877056"/>
            <a:ext cx="9628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ishlatilsa-da kim javobgar, ma'lumot maxfiyligi va nazorat qoidalari belgilanmagan.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50749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2B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Natija:  </a:t>
            </a:r>
            <a:r>
              <a:rPr lang="en-US" sz="1400" i="1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ishonchsiz qo'llaniladi, talabalar amaliyot olmaydi, xatolar tahlil qilinmaydi.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SinoMed  ·  Fedora  · 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9167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EB525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EB5257"/>
          </a:solidFill>
          <a:ln/>
        </p:spPr>
      </p:sp>
      <p:sp>
        <p:nvSpPr>
          <p:cNvPr id="4" name="Text 2"/>
          <p:cNvSpPr/>
          <p:nvPr/>
        </p:nvSpPr>
        <p:spPr>
          <a:xfrm>
            <a:off x="9811512" y="16459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0" b="1" dirty="0">
                <a:solidFill>
                  <a:srgbClr val="18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640080" y="512064"/>
            <a:ext cx="310896" cy="45720"/>
          </a:xfrm>
          <a:prstGeom prst="rect">
            <a:avLst/>
          </a:prstGeom>
          <a:solidFill>
            <a:srgbClr val="EB5257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B5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1792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Bozor hajmi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645920"/>
            <a:ext cx="10607040" cy="1051560"/>
          </a:xfrm>
          <a:prstGeom prst="roundRect">
            <a:avLst>
              <a:gd name="adj" fmla="val 4348"/>
            </a:avLst>
          </a:prstGeom>
          <a:solidFill>
            <a:srgbClr val="0E7C6B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79222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377440" y="17739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Markaziy Osiyo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377440" y="217627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tibbiy OTM (≈120,000 talaba) va 5,000+ radiologiyali klinika; ~8,500 radiolog xodim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7955280" cy="1051560"/>
          </a:xfrm>
          <a:prstGeom prst="roundRect">
            <a:avLst>
              <a:gd name="adj" fmla="val 4348"/>
            </a:avLst>
          </a:prstGeom>
          <a:solidFill>
            <a:srgbClr val="2DD4BF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0723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0F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377440" y="30540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O'zbekiston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377440" y="345643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tibbiy OTM (≈42,000 talaba), 1,200+ davlat/xususiy klinika; ~1,800 radiolog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206240"/>
            <a:ext cx="5303520" cy="1051560"/>
          </a:xfrm>
          <a:prstGeom prst="roundRect">
            <a:avLst>
              <a:gd name="adj" fmla="val 4348"/>
            </a:avLst>
          </a:prstGeom>
          <a:solidFill>
            <a:srgbClr val="EB5257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35254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377440" y="43342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Andijon (pilot)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377440" y="47365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yilda: ADTI + AnDTI (2 OTM, ~4,000 talaba) va 50+ klinika; ~120 radiolog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7150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EB5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Maqsadli auditoriya:  </a:t>
            </a:r>
            <a:r>
              <a:rPr lang="en-US" sz="1350" i="1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tibbiy OTM talabalari, professorlar va klinika radiologlari.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SinoMed  ·  Fedora  · 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9167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EB525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EB5257"/>
          </a:solidFill>
          <a:ln/>
        </p:spPr>
      </p:sp>
      <p:sp>
        <p:nvSpPr>
          <p:cNvPr id="4" name="Text 2"/>
          <p:cNvSpPr/>
          <p:nvPr/>
        </p:nvSpPr>
        <p:spPr>
          <a:xfrm>
            <a:off x="9811512" y="16459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0" b="1" dirty="0">
                <a:solidFill>
                  <a:srgbClr val="18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640080" y="512064"/>
            <a:ext cx="310896" cy="45720"/>
          </a:xfrm>
          <a:prstGeom prst="rect">
            <a:avLst/>
          </a:prstGeom>
          <a:solidFill>
            <a:srgbClr val="EB5257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B5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FARQ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1792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Nega biz boshqacha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3422904" cy="3017520"/>
          </a:xfrm>
          <a:prstGeom prst="roundRect">
            <a:avLst>
              <a:gd name="adj" fmla="val 2121"/>
            </a:avLst>
          </a:prstGeom>
          <a:solidFill>
            <a:srgbClr val="141C2E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965960"/>
            <a:ext cx="566928" cy="566928"/>
          </a:xfrm>
          <a:prstGeom prst="ellipse">
            <a:avLst/>
          </a:prstGeom>
          <a:solidFill>
            <a:srgbClr val="0F1626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2697480"/>
            <a:ext cx="2691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O'rgatuvchi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737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Talaba real keyslarda mashq qiladi — oddiy AI diagnostikada bu yo'q.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383024" y="1600200"/>
            <a:ext cx="3422904" cy="3017520"/>
          </a:xfrm>
          <a:prstGeom prst="roundRect">
            <a:avLst>
              <a:gd name="adj" fmla="val 2121"/>
            </a:avLst>
          </a:prstGeom>
          <a:solidFill>
            <a:srgbClr val="141C2E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48784" y="1965960"/>
            <a:ext cx="566928" cy="566928"/>
          </a:xfrm>
          <a:prstGeom prst="ellipse">
            <a:avLst/>
          </a:prstGeom>
          <a:solidFill>
            <a:srgbClr val="0F1626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48784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48784" y="2697480"/>
            <a:ext cx="2691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Xavfsiz + etik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748784" y="3246120"/>
            <a:ext cx="2737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Audit, model card va ma'lumot maxfiyligi — standart sifatida qurilgan.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125968" y="1600200"/>
            <a:ext cx="3422904" cy="3017520"/>
          </a:xfrm>
          <a:prstGeom prst="roundRect">
            <a:avLst>
              <a:gd name="adj" fmla="val 2121"/>
            </a:avLst>
          </a:prstGeom>
          <a:solidFill>
            <a:srgbClr val="141C2E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91728" y="1965960"/>
            <a:ext cx="566928" cy="566928"/>
          </a:xfrm>
          <a:prstGeom prst="ellipse">
            <a:avLst/>
          </a:prstGeom>
          <a:solidFill>
            <a:srgbClr val="0F1626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91728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491728" y="2697480"/>
            <a:ext cx="2691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Inson nazorati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491728" y="3246120"/>
            <a:ext cx="2737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taklif qiladi, qaror shifokorda — xato o'quv keysiga aylanadi.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0080" y="48920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yagonamiz: o'rgatuvchi + xavfsiz + etik standart — bitta platformada.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SinoMed  ·  Fedora  · 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9167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1572644D-1F9F-4C6D-35E6-AFF02E3AB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813" y="82296"/>
            <a:ext cx="11880102" cy="66568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EB525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EB5257"/>
          </a:solidFill>
          <a:ln/>
        </p:spPr>
      </p:sp>
      <p:sp>
        <p:nvSpPr>
          <p:cNvPr id="4" name="Text 2"/>
          <p:cNvSpPr/>
          <p:nvPr/>
        </p:nvSpPr>
        <p:spPr>
          <a:xfrm>
            <a:off x="9811512" y="16459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0" b="1" dirty="0">
                <a:solidFill>
                  <a:srgbClr val="18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640080" y="512064"/>
            <a:ext cx="310896" cy="45720"/>
          </a:xfrm>
          <a:prstGeom prst="rect">
            <a:avLst/>
          </a:prstGeom>
          <a:solidFill>
            <a:srgbClr val="EB5257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B5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 MODEL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1792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Kim to'laydi, qancha, nima uchun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475488" cy="47548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37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53312" y="16916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Kim to'laydi?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53312" y="207568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B2C: talabalar (bepul, adopsiya). B2G/B2B: tibbiy OTMlar. B2B: klinikalar va shifoxonalar.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475488" cy="47548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34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53312" y="27889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Qancha?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53312" y="317296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OTMga: yillik litsenziya. Klinikaga: foydalanishga qarab (per-scan) yoki oylik.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475488" cy="47548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31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53312" y="38862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Nima uchun?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53312" y="427024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Shifokor xatosini kamaytiradi, tezligini oshiradi, real keyslar bilan o'qitadi.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406640" y="1691640"/>
            <a:ext cx="4114800" cy="3383280"/>
          </a:xfrm>
          <a:prstGeom prst="roundRect">
            <a:avLst>
              <a:gd name="adj" fmla="val 2162"/>
            </a:avLst>
          </a:prstGeom>
          <a:solidFill>
            <a:srgbClr val="2A2410"/>
          </a:solidFill>
          <a:ln w="15875">
            <a:solidFill>
              <a:srgbClr val="F2B1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B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ENG KUCHLI KARTA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80960" y="242316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Xavfsizlik standartini belgilovchi tomon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680960" y="333756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Tibbiy AI uchun etik va xavfsizlik standartini belgilab, auditlovchi tomon bo'lamiz — doimiy, takrorlanuvchi daromad.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SinoMed  ·  Fedora  · 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9167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EB525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EB5257"/>
          </a:solidFill>
          <a:ln/>
        </p:spPr>
      </p:sp>
      <p:sp>
        <p:nvSpPr>
          <p:cNvPr id="4" name="Text 2"/>
          <p:cNvSpPr/>
          <p:nvPr/>
        </p:nvSpPr>
        <p:spPr>
          <a:xfrm>
            <a:off x="9811512" y="16459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0" b="1" dirty="0">
                <a:solidFill>
                  <a:srgbClr val="18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640080" y="512064"/>
            <a:ext cx="310896" cy="45720"/>
          </a:xfrm>
          <a:prstGeom prst="rect">
            <a:avLst/>
          </a:prstGeom>
          <a:solidFill>
            <a:srgbClr val="EB5257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B5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 PLAN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1792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Narxlar — mahalliy bozorga moslangan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08792" cy="32918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52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52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52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Izoh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52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Talaba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Bepul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C7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C7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Doimo bepul — adopsiya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Klinika — start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C7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Freemium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C7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oyiga 50 tahlil bepul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C7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Otkazni yo'qotadi, sinab ko'radi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Klinika — asosiy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C7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Per-scan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~2 500 so'm / tahlil (~$0.20)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C7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tahlil/oy ≈ 750 ming so'm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Yirik shifoxona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C7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Oylik obuna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C7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 mln so'm / oy (~$250)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C7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Cheksiz + integratsiya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C7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Yillik litsenziya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C7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~12–15 mln so'm / yil (~$1 200)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C7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Davlat byudjetidan to'lanadi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fikr:  </a:t>
            </a:r>
            <a:r>
              <a:rPr lang="en-US" sz="1350" i="1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yuqori belgilangan narx o'rniga — bepul kirish + arzon mikro-to'lov. Hech kim otkaz qilmaydi.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SinoMed  ·  Fedora  ·  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09167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EB525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EB5257"/>
          </a:solidFill>
          <a:ln/>
        </p:spPr>
      </p:sp>
      <p:sp>
        <p:nvSpPr>
          <p:cNvPr id="4" name="Text 2"/>
          <p:cNvSpPr/>
          <p:nvPr/>
        </p:nvSpPr>
        <p:spPr>
          <a:xfrm>
            <a:off x="9811512" y="16459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0" b="1" dirty="0">
                <a:solidFill>
                  <a:srgbClr val="18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640080" y="512064"/>
            <a:ext cx="310896" cy="45720"/>
          </a:xfrm>
          <a:prstGeom prst="rect">
            <a:avLst/>
          </a:prstGeom>
          <a:solidFill>
            <a:srgbClr val="EB5257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B5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 PLAN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1792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Daromad — pastdan yuqoriga (3-yil)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Daromad oqimlari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4915814" cy="566928"/>
          </a:xfrm>
          <a:prstGeom prst="roundRect">
            <a:avLst>
              <a:gd name="adj" fmla="val 6452"/>
            </a:avLst>
          </a:prstGeom>
          <a:solidFill>
            <a:srgbClr val="EB525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1518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Klinikalar (per-scan, ~200 ta)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93054" y="201168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$192K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2880360"/>
            <a:ext cx="2304288" cy="566928"/>
          </a:xfrm>
          <a:prstGeom prst="roundRect">
            <a:avLst>
              <a:gd name="adj" fmla="val 6452"/>
            </a:avLst>
          </a:prstGeom>
          <a:solidFill>
            <a:srgbClr val="2DD4B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838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Yirik shifoxonalar (~30 ta)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081528" y="288036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$90K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3749040"/>
            <a:ext cx="460858" cy="566928"/>
          </a:xfrm>
          <a:prstGeom prst="roundRect">
            <a:avLst>
              <a:gd name="adj" fmla="val 7937"/>
            </a:avLst>
          </a:prstGeom>
          <a:solidFill>
            <a:srgbClr val="F2B14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35254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Universitetlar (~15 ta)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238098" y="374904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$18K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0080" y="4800600"/>
            <a:ext cx="7680960" cy="18288"/>
          </a:xfrm>
          <a:prstGeom prst="rect">
            <a:avLst/>
          </a:prstGeom>
          <a:solidFill>
            <a:srgbClr val="26324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937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$300K</a:t>
            </a:r>
            <a:r>
              <a:rPr lang="en-US" sz="14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yil (3-yil vizyoni)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8595360" y="1691640"/>
            <a:ext cx="2926080" cy="3657600"/>
          </a:xfrm>
          <a:prstGeom prst="roundRect">
            <a:avLst>
              <a:gd name="adj" fmla="val 2500"/>
            </a:avLst>
          </a:prstGeom>
          <a:solidFill>
            <a:srgbClr val="141C2E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23960" y="1920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B5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EKONOMIKA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23960" y="22860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~$0.03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8823960" y="2834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tahlil tannarxi (batch inference)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823960" y="34290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80%+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8823960" y="3977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marja (sof software biznes)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823960" y="45720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narx → ommaviy adopsiya → hajmdan daromad.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SinoMed  ·  Fedora  · 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9167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EB525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EB5257"/>
          </a:solidFill>
          <a:ln/>
        </p:spPr>
      </p:sp>
      <p:sp>
        <p:nvSpPr>
          <p:cNvPr id="4" name="Text 2"/>
          <p:cNvSpPr/>
          <p:nvPr/>
        </p:nvSpPr>
        <p:spPr>
          <a:xfrm>
            <a:off x="9811512" y="16459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0" b="1" dirty="0">
                <a:solidFill>
                  <a:srgbClr val="18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640080" y="512064"/>
            <a:ext cx="310896" cy="45720"/>
          </a:xfrm>
          <a:prstGeom prst="rect">
            <a:avLst/>
          </a:prstGeom>
          <a:solidFill>
            <a:srgbClr val="EB5257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B5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STRATEGIYA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1792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Bozorga chiqish — ta'limdan boshlab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005840" y="2743200"/>
            <a:ext cx="8387334" cy="0"/>
          </a:xfrm>
          <a:prstGeom prst="line">
            <a:avLst/>
          </a:prstGeom>
          <a:noFill/>
          <a:ln w="19050">
            <a:solidFill>
              <a:srgbClr val="2632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691640"/>
            <a:ext cx="2521458" cy="3108960"/>
          </a:xfrm>
          <a:prstGeom prst="roundRect">
            <a:avLst>
              <a:gd name="adj" fmla="val 2539"/>
            </a:avLst>
          </a:prstGeom>
          <a:solidFill>
            <a:srgbClr val="141C2E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691640"/>
            <a:ext cx="2521458" cy="91440"/>
          </a:xfrm>
          <a:prstGeom prst="rect">
            <a:avLst/>
          </a:prstGeom>
          <a:solidFill>
            <a:srgbClr val="EB5257"/>
          </a:solidFill>
          <a:ln/>
        </p:spPr>
      </p:sp>
      <p:sp>
        <p:nvSpPr>
          <p:cNvPr id="11" name="Shape 9"/>
          <p:cNvSpPr/>
          <p:nvPr/>
        </p:nvSpPr>
        <p:spPr>
          <a:xfrm>
            <a:off x="1663065" y="2011680"/>
            <a:ext cx="475488" cy="475488"/>
          </a:xfrm>
          <a:prstGeom prst="ellipse">
            <a:avLst/>
          </a:prstGeom>
          <a:solidFill>
            <a:srgbClr val="EB5257"/>
          </a:solidFill>
          <a:ln/>
        </p:spPr>
      </p:sp>
      <p:sp>
        <p:nvSpPr>
          <p:cNvPr id="12" name="Text 10"/>
          <p:cNvSpPr/>
          <p:nvPr/>
        </p:nvSpPr>
        <p:spPr>
          <a:xfrm>
            <a:off x="1663065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2697480"/>
            <a:ext cx="2521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25214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B5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0–6 oy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3520440"/>
            <a:ext cx="2155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OTM bepul, case study + dataset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35858" y="1691640"/>
            <a:ext cx="2521458" cy="3108960"/>
          </a:xfrm>
          <a:prstGeom prst="roundRect">
            <a:avLst>
              <a:gd name="adj" fmla="val 2539"/>
            </a:avLst>
          </a:prstGeom>
          <a:solidFill>
            <a:srgbClr val="141C2E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35858" y="1691640"/>
            <a:ext cx="2521458" cy="914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8" name="Shape 16"/>
          <p:cNvSpPr/>
          <p:nvPr/>
        </p:nvSpPr>
        <p:spPr>
          <a:xfrm>
            <a:off x="4458843" y="2011680"/>
            <a:ext cx="475488" cy="47548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9" name="Text 17"/>
          <p:cNvSpPr/>
          <p:nvPr/>
        </p:nvSpPr>
        <p:spPr>
          <a:xfrm>
            <a:off x="4458843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435858" y="2697480"/>
            <a:ext cx="2521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Daromad bosqichi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435858" y="3108960"/>
            <a:ext cx="25214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3–12 oy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618738" y="3520440"/>
            <a:ext cx="2155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B2C: talabaga bepul; B2B: OTM yillik litsenziya + klinikaga per-scan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31636" y="1691640"/>
            <a:ext cx="2521458" cy="3108960"/>
          </a:xfrm>
          <a:prstGeom prst="roundRect">
            <a:avLst>
              <a:gd name="adj" fmla="val 2539"/>
            </a:avLst>
          </a:prstGeom>
          <a:solidFill>
            <a:srgbClr val="141C2E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31636" y="1691640"/>
            <a:ext cx="2521458" cy="91440"/>
          </a:xfrm>
          <a:prstGeom prst="rect">
            <a:avLst/>
          </a:prstGeom>
          <a:solidFill>
            <a:srgbClr val="F2B14C"/>
          </a:solidFill>
          <a:ln/>
        </p:spPr>
      </p:sp>
      <p:sp>
        <p:nvSpPr>
          <p:cNvPr id="25" name="Shape 23"/>
          <p:cNvSpPr/>
          <p:nvPr/>
        </p:nvSpPr>
        <p:spPr>
          <a:xfrm>
            <a:off x="7254621" y="2011680"/>
            <a:ext cx="475488" cy="475488"/>
          </a:xfrm>
          <a:prstGeom prst="ellipse">
            <a:avLst/>
          </a:prstGeom>
          <a:solidFill>
            <a:srgbClr val="F2B14C"/>
          </a:solidFill>
          <a:ln/>
        </p:spPr>
      </p:sp>
      <p:sp>
        <p:nvSpPr>
          <p:cNvPr id="26" name="Text 24"/>
          <p:cNvSpPr/>
          <p:nvPr/>
        </p:nvSpPr>
        <p:spPr>
          <a:xfrm>
            <a:off x="7254621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231636" y="2697480"/>
            <a:ext cx="2521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Klinika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231636" y="3108960"/>
            <a:ext cx="25214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B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yil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14516" y="3520440"/>
            <a:ext cx="2155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Per-scan model bilan anchor shifoxonalar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027414" y="1691640"/>
            <a:ext cx="2521458" cy="3108960"/>
          </a:xfrm>
          <a:prstGeom prst="roundRect">
            <a:avLst>
              <a:gd name="adj" fmla="val 2539"/>
            </a:avLst>
          </a:prstGeom>
          <a:solidFill>
            <a:srgbClr val="141C2E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27414" y="1691640"/>
            <a:ext cx="2521458" cy="91440"/>
          </a:xfrm>
          <a:prstGeom prst="rect">
            <a:avLst/>
          </a:prstGeom>
          <a:solidFill>
            <a:srgbClr val="EB5257"/>
          </a:solidFill>
          <a:ln/>
        </p:spPr>
      </p:sp>
      <p:sp>
        <p:nvSpPr>
          <p:cNvPr id="32" name="Shape 30"/>
          <p:cNvSpPr/>
          <p:nvPr/>
        </p:nvSpPr>
        <p:spPr>
          <a:xfrm>
            <a:off x="10050399" y="2011680"/>
            <a:ext cx="475488" cy="475488"/>
          </a:xfrm>
          <a:prstGeom prst="ellipse">
            <a:avLst/>
          </a:prstGeom>
          <a:solidFill>
            <a:srgbClr val="EB5257"/>
          </a:solidFill>
          <a:ln/>
        </p:spPr>
      </p:sp>
      <p:sp>
        <p:nvSpPr>
          <p:cNvPr id="33" name="Text 31"/>
          <p:cNvSpPr/>
          <p:nvPr/>
        </p:nvSpPr>
        <p:spPr>
          <a:xfrm>
            <a:off x="10050399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027414" y="2697480"/>
            <a:ext cx="2521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Standart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9027414" y="3108960"/>
            <a:ext cx="25214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B5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yil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210294" y="3520440"/>
            <a:ext cx="2155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Xavfsizlik standartini sertifikatlash (moat)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080" y="50292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→ dataset → daromad: B2C (talaba bepul), B2B (OTM + klinika). Klinika va standart — keyingi bosqich.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SinoMed  ·  Fedora  ·  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09167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EB525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EB5257"/>
          </a:solidFill>
          <a:ln/>
        </p:spPr>
      </p:sp>
      <p:sp>
        <p:nvSpPr>
          <p:cNvPr id="4" name="Text 2"/>
          <p:cNvSpPr/>
          <p:nvPr/>
        </p:nvSpPr>
        <p:spPr>
          <a:xfrm>
            <a:off x="9811512" y="16459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0" b="1" dirty="0">
                <a:solidFill>
                  <a:srgbClr val="18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640080" y="512064"/>
            <a:ext cx="310896" cy="45720"/>
          </a:xfrm>
          <a:prstGeom prst="rect">
            <a:avLst/>
          </a:prstGeom>
          <a:solidFill>
            <a:srgbClr val="EB5257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B5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ISHONCHLILIK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1792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Validatsiya va hamkorlik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664208"/>
            <a:ext cx="146304" cy="146304"/>
          </a:xfrm>
          <a:prstGeom prst="ellipse">
            <a:avLst/>
          </a:prstGeom>
          <a:solidFill>
            <a:srgbClr val="EB5257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00200"/>
            <a:ext cx="10451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Ilmiy rahbarlik:  </a:t>
            </a:r>
            <a:r>
              <a:rPr lang="en-US" sz="15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ADTI ilmiy rahbari nazoratida — akademik asos mavjud.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578608"/>
            <a:ext cx="146304" cy="146304"/>
          </a:xfrm>
          <a:prstGeom prst="ellipse">
            <a:avLst/>
          </a:prstGeom>
          <a:solidFill>
            <a:srgbClr val="EB5257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514600"/>
            <a:ext cx="10451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Sanoat tajribasi:  </a:t>
            </a:r>
            <a:r>
              <a:rPr lang="en-US" sz="15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a'zosi Andijon Digital </a:t>
            </a:r>
            <a:r>
              <a:rPr lang="en-US" sz="1500" dirty="0" err="1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Cityda</a:t>
            </a:r>
            <a:r>
              <a:rPr lang="en-US" sz="15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va raqamlashtirish loyihalarida ishlaydi.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493008"/>
            <a:ext cx="146304" cy="146304"/>
          </a:xfrm>
          <a:prstGeom prst="ellipse">
            <a:avLst/>
          </a:prstGeom>
          <a:solidFill>
            <a:srgbClr val="EB5257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429000"/>
            <a:ext cx="10451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 validatsiya (reja):  </a:t>
            </a:r>
            <a:r>
              <a:rPr lang="en-US" sz="15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hamkor — Andijon davlat tibbiyot instituti; talabalar bilan real keyslarda sinov.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407408"/>
            <a:ext cx="146304" cy="146304"/>
          </a:xfrm>
          <a:prstGeom prst="ellipse">
            <a:avLst/>
          </a:prstGeom>
          <a:solidFill>
            <a:srgbClr val="EB5257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343400"/>
            <a:ext cx="10451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Xalqaro maslahatchilar:  </a:t>
            </a:r>
            <a:r>
              <a:rPr lang="en-US" sz="15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Gozde Cakirsoy Cakar, Prof. Dr., Sakarya University (Turkiya) — dataset, AI qayta ishlash, validatsiya; Mustafa Kosem, Prof. Dr., Sakarya University (Turkiya) — dataset, AI qayta ishlash, natijalar tekshiruvi; Dilfuza Mamarasulova, Prof. Dr., AnDTI (O'zbekiston) — biopsiya tasvirlari validatsiyasi va sinov jarayoni.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SinoMed  ·  Fedora  · 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9167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EB525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EB5257"/>
          </a:solidFill>
          <a:ln/>
        </p:spPr>
      </p:sp>
      <p:sp>
        <p:nvSpPr>
          <p:cNvPr id="4" name="Text 2"/>
          <p:cNvSpPr/>
          <p:nvPr/>
        </p:nvSpPr>
        <p:spPr>
          <a:xfrm>
            <a:off x="9811512" y="16459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0" b="1" dirty="0">
                <a:solidFill>
                  <a:srgbClr val="18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640080" y="512064"/>
            <a:ext cx="310896" cy="45720"/>
          </a:xfrm>
          <a:prstGeom prst="rect">
            <a:avLst/>
          </a:prstGeom>
          <a:solidFill>
            <a:srgbClr val="EB5257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B5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1792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Fedora — 4 </a:t>
            </a:r>
            <a:r>
              <a:rPr lang="en-US" sz="3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talaba</a:t>
            </a: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1 ta </a:t>
            </a:r>
            <a:r>
              <a:rPr lang="en-US" sz="3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soha</a:t>
            </a: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mutaxasisi</a:t>
            </a: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ADTI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SinoMed  ·  Fedora  · 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9167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645920"/>
            <a:ext cx="2068090" cy="3305221"/>
          </a:xfrm>
          <a:prstGeom prst="roundRect">
            <a:avLst>
              <a:gd name="adj" fmla="val 2862"/>
            </a:avLst>
          </a:prstGeom>
          <a:solidFill>
            <a:srgbClr val="141C2E"/>
          </a:solidFill>
          <a:ln w="12700">
            <a:solidFill>
              <a:srgbClr val="263248"/>
            </a:solidFill>
            <a:prstDash val="solid"/>
          </a:ln>
        </p:spPr>
        <p:txBody>
          <a:bodyPr/>
          <a:lstStyle/>
          <a:p>
            <a:endParaRPr lang="ru-US" dirty="0"/>
          </a:p>
        </p:txBody>
      </p:sp>
      <p:sp>
        <p:nvSpPr>
          <p:cNvPr id="9" name="Shape 7"/>
          <p:cNvSpPr/>
          <p:nvPr/>
        </p:nvSpPr>
        <p:spPr>
          <a:xfrm>
            <a:off x="1230170" y="2003241"/>
            <a:ext cx="887910" cy="1071964"/>
          </a:xfrm>
          <a:prstGeom prst="ellipse">
            <a:avLst/>
          </a:prstGeom>
          <a:solidFill>
            <a:srgbClr val="EB5257"/>
          </a:solidFill>
          <a:ln/>
        </p:spPr>
      </p:sp>
      <p:sp>
        <p:nvSpPr>
          <p:cNvPr id="10" name="Text 8"/>
          <p:cNvSpPr/>
          <p:nvPr/>
        </p:nvSpPr>
        <p:spPr>
          <a:xfrm>
            <a:off x="1230170" y="2003241"/>
            <a:ext cx="887910" cy="1071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AO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14072" y="3209200"/>
            <a:ext cx="1920105" cy="535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Anvarov Oyatillo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4072" y="3789847"/>
            <a:ext cx="1920105" cy="312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B5257"/>
                </a:solidFill>
                <a:latin typeface="Calibri" pitchFamily="34" charset="0"/>
                <a:cs typeface="Calibri" pitchFamily="34" charset="-120"/>
              </a:rPr>
              <a:t>Product manager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4072" y="4236499"/>
            <a:ext cx="1920105" cy="446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 err="1">
                <a:solidFill>
                  <a:srgbClr val="8A94A6"/>
                </a:solidFill>
                <a:latin typeface="Calibri" pitchFamily="34" charset="0"/>
                <a:cs typeface="Calibri" pitchFamily="34" charset="-120"/>
              </a:rPr>
              <a:t>Biznes</a:t>
            </a:r>
            <a:r>
              <a:rPr lang="en-US" sz="1150" dirty="0">
                <a:solidFill>
                  <a:srgbClr val="8A94A6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8A94A6"/>
                </a:solidFill>
                <a:latin typeface="Calibri" pitchFamily="34" charset="0"/>
                <a:cs typeface="Calibri" pitchFamily="34" charset="-120"/>
              </a:rPr>
              <a:t>analitik</a:t>
            </a:r>
            <a:r>
              <a:rPr lang="en-US" sz="1150" dirty="0">
                <a:solidFill>
                  <a:srgbClr val="8A94A6"/>
                </a:solidFill>
                <a:latin typeface="Calibri" pitchFamily="34" charset="0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8A94A6"/>
                </a:solidFill>
                <a:latin typeface="Calibri" pitchFamily="34" charset="0"/>
                <a:cs typeface="Calibri" pitchFamily="34" charset="-120"/>
              </a:rPr>
              <a:t>Startuper</a:t>
            </a:r>
            <a:r>
              <a:rPr lang="en-US" sz="1150" dirty="0">
                <a:solidFill>
                  <a:srgbClr val="8A94A6"/>
                </a:solidFill>
                <a:latin typeface="Calibri" pitchFamily="34" charset="0"/>
                <a:cs typeface="Calibri" pitchFamily="34" charset="-120"/>
              </a:rPr>
              <a:t>, AI Expert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893152" y="1645920"/>
            <a:ext cx="2068090" cy="3305221"/>
          </a:xfrm>
          <a:prstGeom prst="roundRect">
            <a:avLst>
              <a:gd name="adj" fmla="val 2862"/>
            </a:avLst>
          </a:prstGeom>
          <a:solidFill>
            <a:srgbClr val="141C2E"/>
          </a:solidFill>
          <a:ln w="12700">
            <a:solidFill>
              <a:srgbClr val="263248"/>
            </a:solidFill>
            <a:prstDash val="solid"/>
          </a:ln>
        </p:spPr>
        <p:txBody>
          <a:bodyPr/>
          <a:lstStyle/>
          <a:p>
            <a:endParaRPr lang="ru-US" dirty="0"/>
          </a:p>
        </p:txBody>
      </p:sp>
      <p:sp>
        <p:nvSpPr>
          <p:cNvPr id="15" name="Shape 13"/>
          <p:cNvSpPr/>
          <p:nvPr/>
        </p:nvSpPr>
        <p:spPr>
          <a:xfrm>
            <a:off x="3483242" y="2003241"/>
            <a:ext cx="887910" cy="107196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6" name="Text 14"/>
          <p:cNvSpPr/>
          <p:nvPr/>
        </p:nvSpPr>
        <p:spPr>
          <a:xfrm>
            <a:off x="3483242" y="2003241"/>
            <a:ext cx="887910" cy="1071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AH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967144" y="3209200"/>
            <a:ext cx="1920105" cy="535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Abdurasul Haydarov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967144" y="3789847"/>
            <a:ext cx="1920105" cy="312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en-US" sz="1200" b="1" dirty="0" err="1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muhandisi</a:t>
            </a: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Backend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67144" y="4236499"/>
            <a:ext cx="1920105" cy="446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PyTorch, YOLO, Grad-CAM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146223" y="1645920"/>
            <a:ext cx="2068090" cy="3305221"/>
          </a:xfrm>
          <a:prstGeom prst="roundRect">
            <a:avLst>
              <a:gd name="adj" fmla="val 2862"/>
            </a:avLst>
          </a:prstGeom>
          <a:solidFill>
            <a:srgbClr val="141C2E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36313" y="2003241"/>
            <a:ext cx="887910" cy="1071964"/>
          </a:xfrm>
          <a:prstGeom prst="ellipse">
            <a:avLst/>
          </a:prstGeom>
          <a:solidFill>
            <a:srgbClr val="EB5257"/>
          </a:solidFill>
          <a:ln/>
        </p:spPr>
      </p:sp>
      <p:sp>
        <p:nvSpPr>
          <p:cNvPr id="22" name="Text 20"/>
          <p:cNvSpPr/>
          <p:nvPr/>
        </p:nvSpPr>
        <p:spPr>
          <a:xfrm>
            <a:off x="5736313" y="2003241"/>
            <a:ext cx="887910" cy="1071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OM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220216" y="3209200"/>
            <a:ext cx="1920105" cy="535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Oybek Muxtoraliyev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20216" y="3789847"/>
            <a:ext cx="1920105" cy="312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B5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UI/UX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20216" y="4236499"/>
            <a:ext cx="1920105" cy="446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UI/UX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399295" y="1645920"/>
            <a:ext cx="2068090" cy="3305221"/>
          </a:xfrm>
          <a:prstGeom prst="roundRect">
            <a:avLst>
              <a:gd name="adj" fmla="val 2862"/>
            </a:avLst>
          </a:prstGeom>
          <a:solidFill>
            <a:srgbClr val="141C2E"/>
          </a:solidFill>
          <a:ln w="12700">
            <a:solidFill>
              <a:srgbClr val="263248"/>
            </a:solidFill>
            <a:prstDash val="solid"/>
          </a:ln>
        </p:spPr>
        <p:txBody>
          <a:bodyPr/>
          <a:lstStyle/>
          <a:p>
            <a:endParaRPr lang="ru-US" dirty="0"/>
          </a:p>
        </p:txBody>
      </p:sp>
      <p:sp>
        <p:nvSpPr>
          <p:cNvPr id="27" name="Shape 25"/>
          <p:cNvSpPr/>
          <p:nvPr/>
        </p:nvSpPr>
        <p:spPr>
          <a:xfrm>
            <a:off x="7989385" y="2003241"/>
            <a:ext cx="887910" cy="107196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8" name="Text 26"/>
          <p:cNvSpPr/>
          <p:nvPr/>
        </p:nvSpPr>
        <p:spPr>
          <a:xfrm>
            <a:off x="7989385" y="2003241"/>
            <a:ext cx="887910" cy="1071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7473287" y="3209200"/>
            <a:ext cx="1920105" cy="535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Sharobidinov Qudratillo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473287" y="3789847"/>
            <a:ext cx="1920105" cy="312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2DD4BF"/>
                </a:solidFill>
                <a:latin typeface="Calibri" pitchFamily="34" charset="0"/>
                <a:cs typeface="Calibri" pitchFamily="34" charset="-120"/>
              </a:rPr>
              <a:t>Dasturchi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73287" y="4236499"/>
            <a:ext cx="1920105" cy="446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/>
              <a:t>F</a:t>
            </a:r>
          </a:p>
        </p:txBody>
      </p: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C1F296F8-6D4F-FBA2-BF23-E7DDA024F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814" y="1940445"/>
            <a:ext cx="1108619" cy="1166382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EDA7C275-FD5B-BD86-5710-091FE41F98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7293" y="1954278"/>
            <a:ext cx="1089467" cy="111217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EA82C980-42E7-393A-3EB6-2AADE7A3CA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4034" y="2005962"/>
            <a:ext cx="1043764" cy="1100865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F3E88755-CFEC-2486-0C18-F7884EB65D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3367" y="2002229"/>
            <a:ext cx="1024415" cy="1071964"/>
          </a:xfrm>
          <a:prstGeom prst="rect">
            <a:avLst/>
          </a:prstGeom>
        </p:spPr>
      </p:pic>
      <p:sp>
        <p:nvSpPr>
          <p:cNvPr id="42" name="Text 23">
            <a:extLst>
              <a:ext uri="{FF2B5EF4-FFF2-40B4-BE49-F238E27FC236}">
                <a16:creationId xmlns:a16="http://schemas.microsoft.com/office/drawing/2014/main" id="{456870B3-13CB-2C24-6710-D13AE9AA6594}"/>
              </a:ext>
            </a:extLst>
          </p:cNvPr>
          <p:cNvSpPr/>
          <p:nvPr/>
        </p:nvSpPr>
        <p:spPr>
          <a:xfrm>
            <a:off x="7473287" y="4165034"/>
            <a:ext cx="1920105" cy="446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 err="1">
                <a:solidFill>
                  <a:srgbClr val="8A94A6"/>
                </a:solidFill>
                <a:latin typeface="Calibri" pitchFamily="34" charset="0"/>
                <a:cs typeface="Calibri" pitchFamily="34" charset="-120"/>
              </a:rPr>
              <a:t>FastAPI</a:t>
            </a:r>
            <a:r>
              <a:rPr lang="en-US" sz="1150" dirty="0">
                <a:solidFill>
                  <a:srgbClr val="8A94A6"/>
                </a:solidFill>
                <a:latin typeface="Calibri" pitchFamily="34" charset="0"/>
                <a:cs typeface="Calibri" pitchFamily="34" charset="-120"/>
              </a:rPr>
              <a:t>, DB, audit, cybersecurity</a:t>
            </a:r>
            <a:endParaRPr lang="en-US" sz="1150" dirty="0"/>
          </a:p>
        </p:txBody>
      </p:sp>
      <p:sp>
        <p:nvSpPr>
          <p:cNvPr id="38" name="Text 27">
            <a:extLst>
              <a:ext uri="{FF2B5EF4-FFF2-40B4-BE49-F238E27FC236}">
                <a16:creationId xmlns:a16="http://schemas.microsoft.com/office/drawing/2014/main" id="{36312123-0393-B542-6397-70EA77F97A10}"/>
              </a:ext>
            </a:extLst>
          </p:cNvPr>
          <p:cNvSpPr/>
          <p:nvPr/>
        </p:nvSpPr>
        <p:spPr>
          <a:xfrm>
            <a:off x="9885504" y="3177875"/>
            <a:ext cx="1920105" cy="535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/>
              <a:t>Y</a:t>
            </a:r>
          </a:p>
        </p:txBody>
      </p:sp>
      <p:sp>
        <p:nvSpPr>
          <p:cNvPr id="40" name="Shape 24">
            <a:extLst>
              <a:ext uri="{FF2B5EF4-FFF2-40B4-BE49-F238E27FC236}">
                <a16:creationId xmlns:a16="http://schemas.microsoft.com/office/drawing/2014/main" id="{51EF5648-5AD4-5A11-2045-1A62E8BC1584}"/>
              </a:ext>
            </a:extLst>
          </p:cNvPr>
          <p:cNvSpPr/>
          <p:nvPr/>
        </p:nvSpPr>
        <p:spPr>
          <a:xfrm>
            <a:off x="9737519" y="1655064"/>
            <a:ext cx="2068090" cy="3305221"/>
          </a:xfrm>
          <a:prstGeom prst="roundRect">
            <a:avLst>
              <a:gd name="adj" fmla="val 2862"/>
            </a:avLst>
          </a:prstGeom>
          <a:solidFill>
            <a:srgbClr val="141C2E"/>
          </a:solidFill>
          <a:ln w="12700">
            <a:solidFill>
              <a:srgbClr val="263248"/>
            </a:solidFill>
            <a:prstDash val="solid"/>
          </a:ln>
        </p:spPr>
        <p:txBody>
          <a:bodyPr/>
          <a:lstStyle/>
          <a:p>
            <a:endParaRPr lang="ru-US" dirty="0"/>
          </a:p>
        </p:txBody>
      </p:sp>
      <p:sp>
        <p:nvSpPr>
          <p:cNvPr id="43" name="Text 27">
            <a:extLst>
              <a:ext uri="{FF2B5EF4-FFF2-40B4-BE49-F238E27FC236}">
                <a16:creationId xmlns:a16="http://schemas.microsoft.com/office/drawing/2014/main" id="{0FD44E42-B6E1-6C67-7088-26A59229A902}"/>
              </a:ext>
            </a:extLst>
          </p:cNvPr>
          <p:cNvSpPr/>
          <p:nvPr/>
        </p:nvSpPr>
        <p:spPr>
          <a:xfrm>
            <a:off x="9865999" y="3177875"/>
            <a:ext cx="1920105" cy="535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Yusupova</a:t>
            </a:r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</a:t>
            </a:r>
            <a:r>
              <a:rPr lang="en-US" sz="15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Gulmira</a:t>
            </a:r>
            <a:endParaRPr lang="en-US" sz="1500" dirty="0"/>
          </a:p>
        </p:txBody>
      </p:sp>
      <p:sp>
        <p:nvSpPr>
          <p:cNvPr id="44" name="Text 28">
            <a:extLst>
              <a:ext uri="{FF2B5EF4-FFF2-40B4-BE49-F238E27FC236}">
                <a16:creationId xmlns:a16="http://schemas.microsoft.com/office/drawing/2014/main" id="{B7FADAD4-BAE3-ECA5-47DA-2CCD064E5D7E}"/>
              </a:ext>
            </a:extLst>
          </p:cNvPr>
          <p:cNvSpPr/>
          <p:nvPr/>
        </p:nvSpPr>
        <p:spPr>
          <a:xfrm>
            <a:off x="9865999" y="3852378"/>
            <a:ext cx="1920105" cy="312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Tibbiy</a:t>
            </a:r>
            <a:r>
              <a:rPr lang="en-US" sz="1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mutaxassis</a:t>
            </a:r>
            <a:endParaRPr lang="en-US" sz="1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5" name="Text 23">
            <a:extLst>
              <a:ext uri="{FF2B5EF4-FFF2-40B4-BE49-F238E27FC236}">
                <a16:creationId xmlns:a16="http://schemas.microsoft.com/office/drawing/2014/main" id="{F7946511-6E31-E26F-C3CD-0D208F6E92EE}"/>
              </a:ext>
            </a:extLst>
          </p:cNvPr>
          <p:cNvSpPr/>
          <p:nvPr/>
        </p:nvSpPr>
        <p:spPr>
          <a:xfrm>
            <a:off x="9839630" y="4206884"/>
            <a:ext cx="1920105" cy="446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 err="1">
                <a:solidFill>
                  <a:srgbClr val="8A94A6"/>
                </a:solidFill>
                <a:latin typeface="Calibri" pitchFamily="34" charset="0"/>
                <a:cs typeface="Calibri" pitchFamily="34" charset="-120"/>
              </a:rPr>
              <a:t>Tibbiy</a:t>
            </a:r>
            <a:r>
              <a:rPr lang="en-US" sz="1150" dirty="0">
                <a:solidFill>
                  <a:srgbClr val="8A94A6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8A94A6"/>
                </a:solidFill>
                <a:latin typeface="Calibri" pitchFamily="34" charset="0"/>
                <a:cs typeface="Calibri" pitchFamily="34" charset="-120"/>
              </a:rPr>
              <a:t>maslahatlar</a:t>
            </a:r>
            <a:r>
              <a:rPr lang="en-US" sz="1150" dirty="0">
                <a:solidFill>
                  <a:srgbClr val="8A94A6"/>
                </a:solidFill>
                <a:latin typeface="Calibri" pitchFamily="34" charset="0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8A94A6"/>
                </a:solidFill>
                <a:latin typeface="Calibri" pitchFamily="34" charset="0"/>
                <a:cs typeface="Calibri" pitchFamily="34" charset="-120"/>
              </a:rPr>
              <a:t>Loyiha</a:t>
            </a:r>
            <a:r>
              <a:rPr lang="en-US" sz="1150" dirty="0">
                <a:solidFill>
                  <a:srgbClr val="8A94A6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8A94A6"/>
                </a:solidFill>
                <a:latin typeface="Calibri" pitchFamily="34" charset="0"/>
                <a:cs typeface="Calibri" pitchFamily="34" charset="-120"/>
              </a:rPr>
              <a:t>uchun</a:t>
            </a:r>
            <a:r>
              <a:rPr lang="en-US" sz="1150" dirty="0">
                <a:solidFill>
                  <a:srgbClr val="8A94A6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8A94A6"/>
                </a:solidFill>
                <a:latin typeface="Calibri" pitchFamily="34" charset="0"/>
                <a:cs typeface="Calibri" pitchFamily="34" charset="-120"/>
              </a:rPr>
              <a:t>ko’mak</a:t>
            </a:r>
            <a:endParaRPr lang="en-US" sz="1150" dirty="0"/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E02E29EA-1B1E-E631-BAE2-8DD424D1C5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24925" y="2020824"/>
            <a:ext cx="1075575" cy="10755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EB525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EB5257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6400800"/>
            <a:ext cx="4754880" cy="0"/>
          </a:xfrm>
          <a:prstGeom prst="line">
            <a:avLst/>
          </a:prstGeom>
          <a:noFill/>
          <a:ln w="12700">
            <a:solidFill>
              <a:srgbClr val="EB5257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0312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SinoMed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B52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o'rgatadi — qaror insonda qoladi.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 Savollaringizni kutamiz.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6634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Fedora jamoasi  ·  Andijon,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SinoMed  ·  Fedora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943</Words>
  <Application>Microsoft Office PowerPoint</Application>
  <PresentationFormat>Widescreen</PresentationFormat>
  <Paragraphs>204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SinoMed</dc:title>
  <dc:subject>PptxGenJS Presentation</dc:subject>
  <dc:creator>Fedora</dc:creator>
  <cp:lastModifiedBy>Oybek</cp:lastModifiedBy>
  <cp:revision>7</cp:revision>
  <dcterms:created xsi:type="dcterms:W3CDTF">2026-06-04T19:02:58Z</dcterms:created>
  <dcterms:modified xsi:type="dcterms:W3CDTF">2026-06-05T08:58:23Z</dcterms:modified>
</cp:coreProperties>
</file>